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  <p:sldMasterId id="2147483661" r:id="rId2"/>
    <p:sldMasterId id="2147483673" r:id="rId3"/>
    <p:sldMasterId id="2147483685" r:id="rId4"/>
    <p:sldMasterId id="2147483697" r:id="rId5"/>
    <p:sldMasterId id="2147483709" r:id="rId6"/>
  </p:sldMasterIdLst>
  <p:notesMasterIdLst>
    <p:notesMasterId r:id="rId13"/>
  </p:notesMasterIdLst>
  <p:handoutMasterIdLst>
    <p:handoutMasterId r:id="rId14"/>
  </p:handoutMasterIdLst>
  <p:sldIdLst>
    <p:sldId id="515" r:id="rId7"/>
    <p:sldId id="494" r:id="rId8"/>
    <p:sldId id="492" r:id="rId9"/>
    <p:sldId id="495" r:id="rId10"/>
    <p:sldId id="493" r:id="rId11"/>
    <p:sldId id="516" r:id="rId12"/>
  </p:sldIdLst>
  <p:sldSz cx="9144000" cy="5143500" type="screen16x9"/>
  <p:notesSz cx="6797675" cy="9926638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微軟正黑體" panose="020B0604030504040204" pitchFamily="34" charset="-120"/>
      <p:regular r:id="rId19"/>
      <p:bold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  <p:embeddedFont>
      <p:font typeface="Inter-Regular" panose="02020500000000000000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DBF70F"/>
    <a:srgbClr val="0000FF"/>
    <a:srgbClr val="041B3B"/>
    <a:srgbClr val="99CA75"/>
    <a:srgbClr val="A3A7B2"/>
    <a:srgbClr val="F4B267"/>
    <a:srgbClr val="8ACACA"/>
    <a:srgbClr val="F37360"/>
    <a:srgbClr val="05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B8CE54-D7E4-4D6C-B30F-6A91B47CCFBE}">
  <a:tblStyle styleId="{E4B8CE54-D7E4-4D6C-B30F-6A91B47CCF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1A51BF6-B60F-430B-B708-1F52C015F51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28" autoAdjust="0"/>
    <p:restoredTop sz="89655" autoAdjust="0"/>
  </p:normalViewPr>
  <p:slideViewPr>
    <p:cSldViewPr>
      <p:cViewPr varScale="1">
        <p:scale>
          <a:sx n="136" d="100"/>
          <a:sy n="136" d="100"/>
        </p:scale>
        <p:origin x="125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4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TW" altLang="en-US"/>
              <a:t>佛教慈濟醫療財團法人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B09E8-6A83-4731-8A30-292963DADC91}" type="datetimeFigureOut">
              <a:rPr lang="zh-TW" altLang="en-US" smtClean="0"/>
              <a:pPr/>
              <a:t>2026/5/18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A12BD-540B-41E5-8F27-E30A56EBAC9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493835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1972734"/>
      </p:ext>
    </p:extLst>
  </p:cSld>
  <p:clrMap bg1="lt1" tx1="dk1" bg2="dk2" tx2="lt2" accent1="accent1" accent2="accent2" accent3="accent3" accent4="accent4" accent5="accent5" accent6="accent6" hlink="hlink" folHlink="folHlink"/>
  <p:hf sldNum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idx="10"/>
          </p:nvPr>
        </p:nvSpPr>
        <p:spPr>
          <a:xfrm>
            <a:off x="8532440" y="4782732"/>
            <a:ext cx="548700" cy="393600"/>
          </a:xfrm>
        </p:spPr>
        <p:txBody>
          <a:bodyPr/>
          <a:lstStyle>
            <a:lvl1pPr>
              <a:defRPr b="1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矩形 3"/>
          <p:cNvSpPr/>
          <p:nvPr userDrawn="1"/>
        </p:nvSpPr>
        <p:spPr>
          <a:xfrm>
            <a:off x="0" y="4731990"/>
            <a:ext cx="1835696" cy="411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533853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Light" userDrawn="1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0" y="1455585"/>
            <a:ext cx="9144000" cy="2232329"/>
          </a:xfrm>
          <a:custGeom>
            <a:avLst/>
            <a:gdLst/>
            <a:ahLst/>
            <a:cxnLst/>
            <a:rect l="l" t="t" r="r" b="b"/>
            <a:pathLst>
              <a:path w="12192000" h="2976439" extrusionOk="0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solidFill>
            <a:srgbClr val="0072D1">
              <a:alpha val="1563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500541" y="484410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" name="矩形 3"/>
          <p:cNvSpPr/>
          <p:nvPr userDrawn="1"/>
        </p:nvSpPr>
        <p:spPr>
          <a:xfrm>
            <a:off x="0" y="4731990"/>
            <a:ext cx="1835696" cy="411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1763D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idx="10"/>
          </p:nvPr>
        </p:nvSpPr>
        <p:spPr>
          <a:xfrm>
            <a:off x="8460432" y="4833474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  <p:sp>
        <p:nvSpPr>
          <p:cNvPr id="4" name="矩形 3"/>
          <p:cNvSpPr/>
          <p:nvPr userDrawn="1"/>
        </p:nvSpPr>
        <p:spPr>
          <a:xfrm>
            <a:off x="0" y="4731990"/>
            <a:ext cx="1835696" cy="411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61295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84EB8-DC86-414B-81CE-CF25A5404C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1597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84EB8-DC86-414B-81CE-CF25A5404C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6749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84EB8-DC86-414B-81CE-CF25A5404C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157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84EB8-DC86-414B-81CE-CF25A5404C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160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84EB8-DC86-414B-81CE-CF25A5404C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717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84EB8-DC86-414B-81CE-CF25A5404C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5581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84EB8-DC86-414B-81CE-CF25A5404C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098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84EB8-DC86-414B-81CE-CF25A5404C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8131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84EB8-DC86-414B-81CE-CF25A5404C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9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84EB8-DC86-414B-81CE-CF25A5404C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8718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84EB8-DC86-414B-81CE-CF25A5404C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6102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FCBC-63F8-49AE-AE6C-D7003350A9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3325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FCBC-63F8-49AE-AE6C-D7003350A9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7491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FCBC-63F8-49AE-AE6C-D7003350A9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5267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FCBC-63F8-49AE-AE6C-D7003350A9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46774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FCBC-63F8-49AE-AE6C-D7003350A9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4259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FCBC-63F8-49AE-AE6C-D7003350A9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4147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FCBC-63F8-49AE-AE6C-D7003350A9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1621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FCBC-63F8-49AE-AE6C-D7003350A9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2224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FCBC-63F8-49AE-AE6C-D7003350A9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3115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FCBC-63F8-49AE-AE6C-D7003350A9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46347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9FCBC-63F8-49AE-AE6C-D7003350A9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61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88D-0A5C-4B01-A4BA-E918347F794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84579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88D-0A5C-4B01-A4BA-E918347F794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0230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88D-0A5C-4B01-A4BA-E918347F794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50703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88D-0A5C-4B01-A4BA-E918347F794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1912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88D-0A5C-4B01-A4BA-E918347F794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9931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88D-0A5C-4B01-A4BA-E918347F794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14349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88D-0A5C-4B01-A4BA-E918347F794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44101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88D-0A5C-4B01-A4BA-E918347F794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75970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88D-0A5C-4B01-A4BA-E918347F794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54959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88D-0A5C-4B01-A4BA-E918347F794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26657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0888D-0A5C-4B01-A4BA-E918347F794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45029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F7C5D-45F1-47C9-B05D-10D3ECFF12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324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F7C5D-45F1-47C9-B05D-10D3ECFF12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0032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F7C5D-45F1-47C9-B05D-10D3ECFF12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3731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F7C5D-45F1-47C9-B05D-10D3ECFF12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98380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F7C5D-45F1-47C9-B05D-10D3ECFF12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2741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F7C5D-45F1-47C9-B05D-10D3ECFF12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17850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F7C5D-45F1-47C9-B05D-10D3ECFF12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96570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F7C5D-45F1-47C9-B05D-10D3ECFF12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86514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F7C5D-45F1-47C9-B05D-10D3ECFF12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77609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F7C5D-45F1-47C9-B05D-10D3ECFF12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97943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F7C5D-45F1-47C9-B05D-10D3ECFF12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653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A5B6-AF45-4C39-9E0C-25E4C49BDC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63961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A5B6-AF45-4C39-9E0C-25E4C49BDC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71290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A5B6-AF45-4C39-9E0C-25E4C49BDC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0444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A5B6-AF45-4C39-9E0C-25E4C49BDC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23263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A5B6-AF45-4C39-9E0C-25E4C49BDC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81874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A5B6-AF45-4C39-9E0C-25E4C49BDC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3042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A5B6-AF45-4C39-9E0C-25E4C49BDC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38427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A5B6-AF45-4C39-9E0C-25E4C49BDC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12029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A5B6-AF45-4C39-9E0C-25E4C49BDC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389386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A5B6-AF45-4C39-9E0C-25E4C49BDC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4457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BA5B6-AF45-4C39-9E0C-25E4C49BDC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460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37875" y="836000"/>
            <a:ext cx="70683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-Regular"/>
              <a:buNone/>
              <a:defRPr sz="32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37875" y="1353948"/>
            <a:ext cx="7068300" cy="30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nter-Regular"/>
              <a:buChar char="●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1pPr>
            <a:lvl2pPr marL="914400" lvl="1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nter-Regular"/>
              <a:buChar char="○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nter-Regular"/>
              <a:buChar char="■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-Regular"/>
              <a:buChar char="●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-Regular"/>
              <a:buChar char="○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-Regular"/>
              <a:buChar char="■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-Regular"/>
              <a:buChar char="●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-Regular"/>
              <a:buChar char="○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-Regular"/>
              <a:buChar char="■"/>
              <a:defRPr sz="2400">
                <a:solidFill>
                  <a:schemeClr val="dk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2440" y="478346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200" b="1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Inter-Regular"/>
              </a:defRPr>
            </a:lvl1pPr>
            <a:lvl2pPr lvl="1" algn="r" rtl="0">
              <a:buNone/>
              <a:defRPr sz="13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2pPr>
            <a:lvl3pPr lvl="2" algn="r" rtl="0">
              <a:buNone/>
              <a:defRPr sz="13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3pPr>
            <a:lvl4pPr lvl="3" algn="r" rtl="0">
              <a:buNone/>
              <a:defRPr sz="13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4pPr>
            <a:lvl5pPr lvl="4" algn="r" rtl="0">
              <a:buNone/>
              <a:defRPr sz="13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5pPr>
            <a:lvl6pPr lvl="5" algn="r" rtl="0">
              <a:buNone/>
              <a:defRPr sz="13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6pPr>
            <a:lvl7pPr lvl="6" algn="r" rtl="0">
              <a:buNone/>
              <a:defRPr sz="13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7pPr>
            <a:lvl8pPr lvl="7" algn="r" rtl="0">
              <a:buNone/>
              <a:defRPr sz="13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8pPr>
            <a:lvl9pPr lvl="8" algn="r" rtl="0">
              <a:buNone/>
              <a:defRPr sz="1300">
                <a:solidFill>
                  <a:schemeClr val="accent1"/>
                </a:solidFill>
                <a:latin typeface="Inter-Regular"/>
                <a:ea typeface="Inter-Regular"/>
                <a:cs typeface="Inter-Regular"/>
                <a:sym typeface="Inter-Regula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" name="Picture 2" descr="https://www.tzuchi.com.tw/zh/images/med-2_2x.png"/>
          <p:cNvPicPr>
            <a:picLocks noChangeAspect="1" noChangeArrowheads="1"/>
          </p:cNvPicPr>
          <p:nvPr userDrawn="1"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04727"/>
            <a:ext cx="1696305" cy="372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  <p:sldLayoutId id="2147483656" r:id="rId2"/>
    <p:sldLayoutId id="2147483660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84EB8-DC86-414B-81CE-CF25A5404C8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11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9FCBC-63F8-49AE-AE6C-D7003350A9F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1026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0888D-0A5C-4B01-A4BA-E918347F794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0693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F7C5D-45F1-47C9-B05D-10D3ECFF12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713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BA5B6-AF45-4C39-9E0C-25E4C49BDC4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0627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0.JP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-36512" y="32299"/>
            <a:ext cx="9144000" cy="291889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-11123" y="2924066"/>
            <a:ext cx="9144000" cy="22079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232" y="2931790"/>
            <a:ext cx="1188935" cy="146405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191" y="2931790"/>
            <a:ext cx="1162685" cy="138001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14347" y="55376"/>
            <a:ext cx="761457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zh-TW" altLang="en-US" sz="3200" b="1" dirty="0">
                <a:solidFill>
                  <a:srgbClr val="1763D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台日論壇與談講者 強強</a:t>
            </a:r>
            <a:r>
              <a:rPr lang="zh-TW" altLang="en-US" sz="3200" b="1" dirty="0" smtClean="0">
                <a:solidFill>
                  <a:srgbClr val="1763D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聯手</a:t>
            </a:r>
            <a:endParaRPr lang="en-US" sz="3200" b="1" dirty="0">
              <a:solidFill>
                <a:srgbClr val="1763D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379" y="2931791"/>
            <a:ext cx="1126814" cy="133829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364" y="2931790"/>
            <a:ext cx="1184076" cy="145525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70" y="627534"/>
            <a:ext cx="1146731" cy="149075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555526"/>
            <a:ext cx="1133453" cy="1480894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3871" y="527556"/>
            <a:ext cx="1331257" cy="1535405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1840" y="555526"/>
            <a:ext cx="1207027" cy="1540953"/>
          </a:xfrm>
          <a:prstGeom prst="rect">
            <a:avLst/>
          </a:prstGeom>
        </p:spPr>
      </p:pic>
      <p:sp>
        <p:nvSpPr>
          <p:cNvPr id="15" name="TextBox 5"/>
          <p:cNvSpPr txBox="1"/>
          <p:nvPr/>
        </p:nvSpPr>
        <p:spPr>
          <a:xfrm>
            <a:off x="48199" y="1923767"/>
            <a:ext cx="131435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zh-TW" altLang="en-US" sz="3200" b="1" dirty="0">
                <a:solidFill>
                  <a:srgbClr val="1763D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台灣</a:t>
            </a:r>
            <a:endParaRPr lang="en-US" altLang="zh-TW" sz="3200" b="1" dirty="0">
              <a:solidFill>
                <a:srgbClr val="1763D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>
              <a:spcBef>
                <a:spcPct val="0"/>
              </a:spcBef>
            </a:pPr>
            <a:r>
              <a:rPr lang="zh-TW" altLang="en-US" sz="3200" b="1" dirty="0">
                <a:solidFill>
                  <a:srgbClr val="1763D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專家</a:t>
            </a:r>
            <a:endParaRPr lang="en-US" sz="3200" b="1" dirty="0">
              <a:solidFill>
                <a:srgbClr val="1763D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5"/>
          <p:cNvSpPr txBox="1"/>
          <p:nvPr/>
        </p:nvSpPr>
        <p:spPr>
          <a:xfrm>
            <a:off x="66261" y="3795886"/>
            <a:ext cx="1314359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zh-TW" altLang="en-US" sz="3200" b="1" dirty="0">
                <a:solidFill>
                  <a:srgbClr val="1763D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日本</a:t>
            </a:r>
            <a:endParaRPr lang="en-US" altLang="zh-TW" sz="3200" b="1" dirty="0">
              <a:solidFill>
                <a:srgbClr val="1763D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 algn="ctr">
              <a:spcBef>
                <a:spcPct val="0"/>
              </a:spcBef>
            </a:pPr>
            <a:r>
              <a:rPr lang="zh-TW" altLang="en-US" sz="3200" b="1" dirty="0">
                <a:solidFill>
                  <a:srgbClr val="1763D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專家</a:t>
            </a:r>
            <a:endParaRPr lang="en-US" sz="3200" b="1" dirty="0">
              <a:solidFill>
                <a:srgbClr val="1763D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002278" y="4270088"/>
            <a:ext cx="199435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國立長壽醫療研究中心科學照護專案主持人</a:t>
            </a:r>
            <a:endParaRPr lang="en-US" altLang="zh-TW" dirty="0"/>
          </a:p>
          <a:p>
            <a:pPr algn="ctr"/>
            <a:r>
              <a:rPr lang="zh-TW" altLang="en-US" dirty="0"/>
              <a:t>大浦智子 </a:t>
            </a:r>
            <a:r>
              <a:rPr lang="zh-TW" altLang="en-US" dirty="0" smtClean="0"/>
              <a:t>教授</a:t>
            </a:r>
            <a:endParaRPr lang="zh-TW" altLang="en-US" dirty="0">
              <a:solidFill>
                <a:srgbClr val="FF00FF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222174" y="4244447"/>
            <a:ext cx="18232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暢銷書冠軍</a:t>
            </a:r>
            <a:r>
              <a:rPr lang="en-US" altLang="zh-TW" dirty="0"/>
              <a:t>/</a:t>
            </a:r>
            <a:r>
              <a:rPr lang="zh-TW" altLang="en-US" dirty="0" smtClean="0"/>
              <a:t>權威</a:t>
            </a:r>
            <a:endParaRPr lang="en-US" altLang="zh-TW" dirty="0" smtClean="0"/>
          </a:p>
          <a:p>
            <a:pPr algn="ctr"/>
            <a:r>
              <a:rPr lang="zh-TW" altLang="en-US" dirty="0" smtClean="0"/>
              <a:t>日本「</a:t>
            </a:r>
            <a:r>
              <a:rPr lang="zh-TW" altLang="en-US" dirty="0"/>
              <a:t>心靈與身體診所」院長</a:t>
            </a:r>
            <a:endParaRPr lang="en-US" altLang="zh-TW" dirty="0"/>
          </a:p>
          <a:p>
            <a:pPr algn="ctr"/>
            <a:r>
              <a:rPr lang="zh-TW" altLang="en-US" dirty="0"/>
              <a:t>和田秀樹</a:t>
            </a:r>
            <a:r>
              <a:rPr lang="zh-TW" altLang="en-US" dirty="0" smtClean="0"/>
              <a:t>醫師</a:t>
            </a:r>
            <a:endParaRPr lang="zh-TW" altLang="en-US" dirty="0">
              <a:solidFill>
                <a:srgbClr val="FF00FF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917502" y="4419394"/>
            <a:ext cx="21960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日本東北大學 加齡研究所</a:t>
            </a:r>
            <a:endParaRPr lang="en-US" altLang="zh-TW" dirty="0"/>
          </a:p>
          <a:p>
            <a:pPr algn="ctr"/>
            <a:r>
              <a:rPr lang="zh-TW" altLang="en-US" dirty="0"/>
              <a:t>川島隆太 </a:t>
            </a:r>
            <a:r>
              <a:rPr lang="zh-TW" altLang="en-US" dirty="0" smtClean="0"/>
              <a:t>教授</a:t>
            </a:r>
            <a:endParaRPr lang="zh-TW" altLang="en-US" dirty="0">
              <a:solidFill>
                <a:srgbClr val="FF00FF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144348" y="4441776"/>
            <a:ext cx="2065913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ja-JP" altLang="en-US" sz="1050" dirty="0"/>
              <a:t>株式会社スターコンサルティンググルー</a:t>
            </a:r>
            <a:r>
              <a:rPr lang="ja-JP" altLang="en-US" sz="1050" dirty="0" smtClean="0"/>
              <a:t>プ</a:t>
            </a:r>
            <a:r>
              <a:rPr lang="en-US" altLang="ja-JP" sz="1050" dirty="0" smtClean="0"/>
              <a:t>Star </a:t>
            </a:r>
            <a:r>
              <a:rPr lang="en-US" altLang="ja-JP" sz="1050" dirty="0"/>
              <a:t>Consulting Group</a:t>
            </a:r>
            <a:r>
              <a:rPr lang="zh-TW" altLang="en-US" dirty="0"/>
              <a:t>糠谷和弘 社長</a:t>
            </a:r>
            <a:endParaRPr lang="en-US" altLang="zh-TW" dirty="0"/>
          </a:p>
        </p:txBody>
      </p:sp>
      <p:sp>
        <p:nvSpPr>
          <p:cNvPr id="21" name="矩形 20"/>
          <p:cNvSpPr/>
          <p:nvPr/>
        </p:nvSpPr>
        <p:spPr>
          <a:xfrm>
            <a:off x="2915816" y="2067694"/>
            <a:ext cx="15659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台中市衛生局</a:t>
            </a:r>
            <a:endParaRPr lang="en-US" altLang="zh-TW" dirty="0"/>
          </a:p>
          <a:p>
            <a:pPr algn="ctr"/>
            <a:r>
              <a:rPr lang="zh-TW" altLang="en-US" dirty="0"/>
              <a:t>曾梓展 </a:t>
            </a:r>
            <a:r>
              <a:rPr lang="zh-TW" altLang="en-US" dirty="0" smtClean="0"/>
              <a:t>局長</a:t>
            </a:r>
            <a:endParaRPr lang="en-US" altLang="zh-TW" dirty="0"/>
          </a:p>
        </p:txBody>
      </p:sp>
      <p:sp>
        <p:nvSpPr>
          <p:cNvPr id="22" name="矩形 21"/>
          <p:cNvSpPr/>
          <p:nvPr/>
        </p:nvSpPr>
        <p:spPr>
          <a:xfrm>
            <a:off x="1654184" y="2067694"/>
            <a:ext cx="12393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衛生福利部石崇良</a:t>
            </a:r>
            <a:r>
              <a:rPr lang="zh-TW" altLang="en-US" dirty="0" smtClean="0"/>
              <a:t>部長</a:t>
            </a:r>
            <a:endParaRPr lang="zh-TW" altLang="en-US" dirty="0">
              <a:solidFill>
                <a:srgbClr val="FF00FF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354693" y="2038798"/>
            <a:ext cx="209747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國衛院高齡醫學暨</a:t>
            </a:r>
            <a:endParaRPr lang="en-US" altLang="zh-TW" dirty="0"/>
          </a:p>
          <a:p>
            <a:pPr algn="ctr"/>
            <a:r>
              <a:rPr lang="zh-TW" altLang="en-US" dirty="0"/>
              <a:t>健康福祉研究中心</a:t>
            </a:r>
            <a:endParaRPr lang="en-US" altLang="zh-TW" dirty="0"/>
          </a:p>
          <a:p>
            <a:pPr algn="ctr"/>
            <a:r>
              <a:rPr lang="zh-TW" altLang="en-US" dirty="0"/>
              <a:t>許志成 執行</a:t>
            </a:r>
            <a:r>
              <a:rPr lang="zh-TW" altLang="en-US" dirty="0" smtClean="0"/>
              <a:t>長</a:t>
            </a:r>
            <a:endParaRPr lang="zh-TW" altLang="en-US" dirty="0">
              <a:solidFill>
                <a:srgbClr val="FF00FF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394344" y="2080399"/>
            <a:ext cx="15659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台中慈濟醫院</a:t>
            </a:r>
            <a:endParaRPr lang="en-US" altLang="zh-TW" dirty="0"/>
          </a:p>
          <a:p>
            <a:pPr algn="ctr"/>
            <a:r>
              <a:rPr lang="zh-TW" altLang="en-US" dirty="0"/>
              <a:t>莊淑婷 </a:t>
            </a:r>
            <a:r>
              <a:rPr lang="zh-TW" altLang="en-US" dirty="0" smtClean="0"/>
              <a:t>副院長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6E7B10B-F178-3C47-9CE0-F1AEA51E1E60}"/>
              </a:ext>
            </a:extLst>
          </p:cNvPr>
          <p:cNvSpPr/>
          <p:nvPr/>
        </p:nvSpPr>
        <p:spPr>
          <a:xfrm>
            <a:off x="95754" y="96901"/>
            <a:ext cx="1296620" cy="1394570"/>
          </a:xfrm>
          <a:prstGeom prst="ellipse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2C5FCB-5772-0654-9BED-15E278933A09}"/>
              </a:ext>
            </a:extLst>
          </p:cNvPr>
          <p:cNvSpPr/>
          <p:nvPr/>
        </p:nvSpPr>
        <p:spPr>
          <a:xfrm>
            <a:off x="-91261" y="1465729"/>
            <a:ext cx="16706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林碧玉 副總執行</a:t>
            </a:r>
            <a:r>
              <a:rPr lang="zh-TW" altLang="en-US" dirty="0" smtClean="0"/>
              <a:t>長</a:t>
            </a:r>
            <a:endParaRPr lang="en-US" altLang="zh-TW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283FED-B7F8-6BA5-5076-30B08BD3A603}"/>
              </a:ext>
            </a:extLst>
          </p:cNvPr>
          <p:cNvSpPr/>
          <p:nvPr/>
        </p:nvSpPr>
        <p:spPr>
          <a:xfrm>
            <a:off x="6012160" y="2067694"/>
            <a:ext cx="15659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台中慈濟醫院</a:t>
            </a:r>
            <a:endParaRPr lang="en-US" altLang="zh-TW" dirty="0"/>
          </a:p>
          <a:p>
            <a:pPr algn="ctr"/>
            <a:r>
              <a:rPr lang="zh-TW" altLang="en-US" dirty="0"/>
              <a:t>簡守信</a:t>
            </a:r>
            <a:r>
              <a:rPr lang="zh-TW" altLang="en-US" dirty="0" smtClean="0"/>
              <a:t>院長</a:t>
            </a:r>
            <a:endParaRPr lang="en-US" altLang="zh-TW" dirty="0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C61A500D-03C8-607B-BFC9-10F21CB8FD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8333" y="578983"/>
            <a:ext cx="1186753" cy="14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1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"/>
          </a:p>
        </p:txBody>
      </p:sp>
      <p:sp>
        <p:nvSpPr>
          <p:cNvPr id="3" name="文字方塊 2"/>
          <p:cNvSpPr txBox="1"/>
          <p:nvPr/>
        </p:nvSpPr>
        <p:spPr>
          <a:xfrm>
            <a:off x="899592" y="1227406"/>
            <a:ext cx="864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200" dirty="0" smtClean="0"/>
              <a:t>“</a:t>
            </a:r>
            <a:r>
              <a:rPr lang="en-US" altLang="zh-TW" dirty="0" smtClean="0">
                <a:solidFill>
                  <a:schemeClr val="bg1"/>
                </a:solidFill>
              </a:rPr>
              <a:t>”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6948264" y="2859782"/>
            <a:ext cx="864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200" dirty="0" smtClean="0">
                <a:solidFill>
                  <a:schemeClr val="bg1"/>
                </a:solidFill>
              </a:rPr>
              <a:t>“</a:t>
            </a:r>
            <a:r>
              <a:rPr lang="en-US" altLang="zh-TW" sz="7200" dirty="0" smtClean="0"/>
              <a:t>”</a:t>
            </a:r>
            <a:endParaRPr lang="zh-TW" altLang="en-US" sz="7200" dirty="0"/>
          </a:p>
        </p:txBody>
      </p:sp>
      <p:sp>
        <p:nvSpPr>
          <p:cNvPr id="5" name="矩形 4"/>
          <p:cNvSpPr/>
          <p:nvPr/>
        </p:nvSpPr>
        <p:spPr>
          <a:xfrm>
            <a:off x="1403648" y="1657423"/>
            <a:ext cx="5904656" cy="15406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898702" y="2427392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 smtClean="0">
                <a:solidFill>
                  <a:schemeClr val="bg1"/>
                </a:solidFill>
              </a:rPr>
              <a:t>成功</a:t>
            </a:r>
            <a:r>
              <a:rPr lang="zh-TW" altLang="en-US" sz="3600" b="1" dirty="0">
                <a:solidFill>
                  <a:schemeClr val="bg1"/>
                </a:solidFill>
              </a:rPr>
              <a:t>老化與實證</a:t>
            </a:r>
            <a:r>
              <a:rPr lang="zh-TW" altLang="en-US" sz="3600" b="1" dirty="0" smtClean="0">
                <a:solidFill>
                  <a:schemeClr val="bg1"/>
                </a:solidFill>
              </a:rPr>
              <a:t>科學</a:t>
            </a:r>
            <a:endParaRPr lang="en-US" altLang="zh-TW" sz="3600" b="1" dirty="0" smtClean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907704" y="488890"/>
            <a:ext cx="49685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 smtClean="0">
                <a:solidFill>
                  <a:schemeClr val="tx1"/>
                </a:solidFill>
              </a:rPr>
              <a:t>論壇上午場</a:t>
            </a:r>
            <a:endParaRPr lang="en-US" altLang="zh-TW" sz="4400" b="1" dirty="0" smtClean="0">
              <a:solidFill>
                <a:schemeClr val="tx1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123728" y="3628061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tx1"/>
                </a:solidFill>
              </a:rPr>
              <a:t>9:00-12:10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1889491" y="1781061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 smtClean="0">
                <a:solidFill>
                  <a:schemeClr val="bg1"/>
                </a:solidFill>
              </a:rPr>
              <a:t>長照政策國際交流</a:t>
            </a:r>
            <a:endParaRPr lang="en-US" altLang="zh-TW" sz="36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97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428477" y="2742852"/>
            <a:ext cx="3232741" cy="220196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284461" y="638113"/>
            <a:ext cx="3456384" cy="185349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>
          <a:xfrm>
            <a:off x="8466495" y="4674601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" dirty="0"/>
          </a:p>
        </p:txBody>
      </p:sp>
      <p:sp>
        <p:nvSpPr>
          <p:cNvPr id="5" name="橢圓 4"/>
          <p:cNvSpPr/>
          <p:nvPr/>
        </p:nvSpPr>
        <p:spPr>
          <a:xfrm>
            <a:off x="4548716" y="95637"/>
            <a:ext cx="1208029" cy="1313997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4576677" y="2605338"/>
            <a:ext cx="1152109" cy="1281989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5803548" y="3514824"/>
            <a:ext cx="13115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dirty="0" smtClean="0"/>
              <a:t>大浦智子 教授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892338" y="982244"/>
            <a:ext cx="11320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dirty="0" smtClean="0"/>
              <a:t>石崇良 部長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5596159" y="731004"/>
            <a:ext cx="29619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rgbClr val="041B3B"/>
                </a:solidFill>
              </a:rPr>
              <a:t>跨域共融智啟台灣長照</a:t>
            </a:r>
            <a:r>
              <a:rPr lang="en-US" altLang="zh-TW" b="1" dirty="0">
                <a:solidFill>
                  <a:srgbClr val="041B3B"/>
                </a:solidFill>
              </a:rPr>
              <a:t>3.0</a:t>
            </a:r>
            <a:r>
              <a:rPr lang="zh-TW" altLang="en-US" b="1" dirty="0">
                <a:solidFill>
                  <a:srgbClr val="041B3B"/>
                </a:solidFill>
              </a:rPr>
              <a:t>新時代</a:t>
            </a:r>
          </a:p>
        </p:txBody>
      </p:sp>
      <p:sp>
        <p:nvSpPr>
          <p:cNvPr id="23" name="矩形 22"/>
          <p:cNvSpPr/>
          <p:nvPr/>
        </p:nvSpPr>
        <p:spPr>
          <a:xfrm>
            <a:off x="5379529" y="1346558"/>
            <a:ext cx="339667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解析</a:t>
            </a:r>
            <a:r>
              <a:rPr lang="zh-TW" altLang="en-US" b="1" dirty="0">
                <a:solidFill>
                  <a:srgbClr val="FF00FF"/>
                </a:solidFill>
              </a:rPr>
              <a:t>長照 </a:t>
            </a:r>
            <a:r>
              <a:rPr lang="en-US" altLang="zh-TW" b="1" dirty="0">
                <a:solidFill>
                  <a:srgbClr val="FF00FF"/>
                </a:solidFill>
              </a:rPr>
              <a:t>3.0 </a:t>
            </a:r>
            <a:r>
              <a:rPr lang="zh-TW" altLang="en-US" b="1" dirty="0">
                <a:solidFill>
                  <a:srgbClr val="FF00FF"/>
                </a:solidFill>
              </a:rPr>
              <a:t>核心戰略</a:t>
            </a:r>
            <a:r>
              <a:rPr lang="zh-TW" altLang="en-US" dirty="0"/>
              <a:t>，強調「醫養結合」與「社區共融」的深度整合。透過建構連續性照護體系與數位轉型，提升服務覆蓋率與品質</a:t>
            </a:r>
            <a:r>
              <a:rPr lang="zh-TW" altLang="en-US" dirty="0" smtClean="0"/>
              <a:t>，揭示</a:t>
            </a:r>
            <a:r>
              <a:rPr lang="zh-TW" altLang="en-US" b="1" dirty="0">
                <a:solidFill>
                  <a:srgbClr val="FF00FF"/>
                </a:solidFill>
              </a:rPr>
              <a:t>未來政策</a:t>
            </a:r>
            <a:r>
              <a:rPr lang="zh-TW" altLang="en-US" dirty="0"/>
              <a:t>如何引領台灣邁向精準、永續的整合照護新時代。</a:t>
            </a:r>
          </a:p>
        </p:txBody>
      </p:sp>
      <p:sp>
        <p:nvSpPr>
          <p:cNvPr id="24" name="矩形 23"/>
          <p:cNvSpPr/>
          <p:nvPr/>
        </p:nvSpPr>
        <p:spPr>
          <a:xfrm>
            <a:off x="5470599" y="2857194"/>
            <a:ext cx="308753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zh-TW" b="1" dirty="0"/>
              <a:t>以提升長照品質與效能為目標之科學化照護資訊系統</a:t>
            </a:r>
            <a:r>
              <a:rPr lang="en-US" altLang="zh-TW" b="1" dirty="0"/>
              <a:t>-LIFE(Long term care Information For Evidence)</a:t>
            </a:r>
            <a:endParaRPr lang="zh-TW" altLang="en-US" b="1" dirty="0">
              <a:solidFill>
                <a:srgbClr val="041B3B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428477" y="3559816"/>
            <a:ext cx="3216035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TW" sz="1300" dirty="0" smtClean="0"/>
          </a:p>
          <a:p>
            <a:r>
              <a:rPr lang="zh-TW" altLang="en-US" sz="1300" b="1" dirty="0" smtClean="0">
                <a:solidFill>
                  <a:srgbClr val="FF00FF"/>
                </a:solidFill>
              </a:rPr>
              <a:t>日本</a:t>
            </a:r>
            <a:r>
              <a:rPr lang="zh-TW" altLang="en-US" sz="1300" b="1" dirty="0">
                <a:solidFill>
                  <a:srgbClr val="FF00FF"/>
                </a:solidFill>
              </a:rPr>
              <a:t>科學照護資訊系統（</a:t>
            </a:r>
            <a:r>
              <a:rPr lang="en-US" altLang="zh-TW" sz="1300" b="1" dirty="0">
                <a:solidFill>
                  <a:srgbClr val="FF00FF"/>
                </a:solidFill>
              </a:rPr>
              <a:t>LIFE</a:t>
            </a:r>
            <a:r>
              <a:rPr lang="zh-TW" altLang="en-US" sz="1300" b="1" dirty="0" smtClean="0">
                <a:solidFill>
                  <a:srgbClr val="FF00FF"/>
                </a:solidFill>
              </a:rPr>
              <a:t>）</a:t>
            </a:r>
            <a:r>
              <a:rPr lang="zh-TW" altLang="en-US" sz="1300" dirty="0" smtClean="0"/>
              <a:t>研究</a:t>
            </a:r>
            <a:r>
              <a:rPr lang="zh-TW" altLang="en-US" sz="1300" dirty="0"/>
              <a:t>與推廣</a:t>
            </a:r>
            <a:r>
              <a:rPr lang="zh-TW" altLang="en-US" sz="1300" dirty="0" smtClean="0"/>
              <a:t>。解析透過</a:t>
            </a:r>
            <a:r>
              <a:rPr lang="zh-TW" altLang="en-US" sz="1300" dirty="0"/>
              <a:t>大數據回饋，</a:t>
            </a:r>
            <a:r>
              <a:rPr lang="zh-TW" altLang="en-US" sz="1300" dirty="0" smtClean="0"/>
              <a:t>落實照護品質與</a:t>
            </a:r>
            <a:r>
              <a:rPr lang="zh-TW" altLang="en-US" sz="1300" b="1" dirty="0">
                <a:solidFill>
                  <a:srgbClr val="FF00FF"/>
                </a:solidFill>
              </a:rPr>
              <a:t>精準改善</a:t>
            </a:r>
            <a:r>
              <a:rPr lang="zh-TW" altLang="en-US" sz="1300" b="1" dirty="0" smtClean="0">
                <a:solidFill>
                  <a:srgbClr val="FF00FF"/>
                </a:solidFill>
              </a:rPr>
              <a:t>計畫，節省保險支出</a:t>
            </a:r>
            <a:r>
              <a:rPr lang="zh-TW" altLang="en-US" sz="1300" dirty="0" smtClean="0"/>
              <a:t>，</a:t>
            </a:r>
            <a:r>
              <a:rPr lang="zh-TW" altLang="en-US" sz="1300" dirty="0"/>
              <a:t>並探討在科學指標與人性化照顧間的平衡，引領台灣接軌科學化照護新紀元。</a:t>
            </a:r>
          </a:p>
        </p:txBody>
      </p:sp>
      <p:sp>
        <p:nvSpPr>
          <p:cNvPr id="26" name="矩形 25"/>
          <p:cNvSpPr/>
          <p:nvPr/>
        </p:nvSpPr>
        <p:spPr>
          <a:xfrm>
            <a:off x="906312" y="1470439"/>
            <a:ext cx="3502326" cy="8835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854225" y="237474"/>
            <a:ext cx="3502326" cy="88353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1463469" y="745054"/>
            <a:ext cx="16706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林碧玉 副總執行長</a:t>
            </a:r>
            <a:endParaRPr lang="en-US" altLang="zh-TW" dirty="0"/>
          </a:p>
        </p:txBody>
      </p:sp>
      <p:sp>
        <p:nvSpPr>
          <p:cNvPr id="31" name="矩形 30"/>
          <p:cNvSpPr/>
          <p:nvPr/>
        </p:nvSpPr>
        <p:spPr>
          <a:xfrm>
            <a:off x="1295495" y="444859"/>
            <a:ext cx="16914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b="1" dirty="0" smtClean="0">
                <a:solidFill>
                  <a:srgbClr val="041B3B"/>
                </a:solidFill>
              </a:rPr>
              <a:t>引言人</a:t>
            </a:r>
            <a:endParaRPr lang="zh-TW" altLang="en-US" b="1" dirty="0">
              <a:solidFill>
                <a:srgbClr val="041B3B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145158" y="1713532"/>
            <a:ext cx="27787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與談者</a:t>
            </a:r>
            <a:r>
              <a:rPr lang="en-US" altLang="zh-TW" dirty="0"/>
              <a:t>:</a:t>
            </a:r>
            <a:r>
              <a:rPr lang="zh-TW" altLang="en-US" dirty="0"/>
              <a:t>台中市衛生局曾梓展局長</a:t>
            </a:r>
            <a:endParaRPr lang="en-US" altLang="zh-TW" dirty="0"/>
          </a:p>
          <a:p>
            <a:r>
              <a:rPr lang="zh-TW" altLang="en-US" dirty="0"/>
              <a:t>            </a:t>
            </a:r>
            <a:endParaRPr lang="en-US" altLang="zh-TW" dirty="0"/>
          </a:p>
        </p:txBody>
      </p:sp>
      <p:sp>
        <p:nvSpPr>
          <p:cNvPr id="33" name="橢圓 32"/>
          <p:cNvSpPr/>
          <p:nvPr/>
        </p:nvSpPr>
        <p:spPr>
          <a:xfrm>
            <a:off x="90360" y="1386042"/>
            <a:ext cx="1136570" cy="1234227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29419" y="38369"/>
            <a:ext cx="1182089" cy="1257353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/>
          <p:cNvSpPr/>
          <p:nvPr/>
        </p:nvSpPr>
        <p:spPr>
          <a:xfrm>
            <a:off x="1025884" y="2969380"/>
            <a:ext cx="3384376" cy="156196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42693" y="2882312"/>
            <a:ext cx="1224136" cy="1244374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1211508" y="3460200"/>
            <a:ext cx="3186531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300" dirty="0" smtClean="0"/>
              <a:t>日本高齡超過三十年權威精神科醫師。</a:t>
            </a:r>
            <a:endParaRPr lang="zh-TW" altLang="en-US" sz="1300" dirty="0"/>
          </a:p>
          <a:p>
            <a:r>
              <a:rPr lang="zh-TW" altLang="en-US" sz="1300" dirty="0"/>
              <a:t>多本</a:t>
            </a:r>
            <a:r>
              <a:rPr lang="zh-TW" altLang="en-US" sz="1300" dirty="0" smtClean="0"/>
              <a:t>著作台灣暢銷</a:t>
            </a:r>
            <a:r>
              <a:rPr lang="zh-TW" altLang="en-US" sz="1300" dirty="0"/>
              <a:t>出版</a:t>
            </a:r>
            <a:r>
              <a:rPr lang="zh-TW" altLang="en-US" sz="1300" dirty="0" smtClean="0"/>
              <a:t>，</a:t>
            </a:r>
            <a:r>
              <a:rPr lang="zh-TW" altLang="en-US" sz="1300" dirty="0"/>
              <a:t>涵蓋</a:t>
            </a:r>
            <a:r>
              <a:rPr lang="zh-TW" altLang="en-US" sz="1300" b="1" dirty="0">
                <a:solidFill>
                  <a:srgbClr val="FF00FF"/>
                </a:solidFill>
              </a:rPr>
              <a:t>抗老、樂活</a:t>
            </a:r>
            <a:r>
              <a:rPr lang="zh-TW" altLang="en-US" sz="1300" dirty="0"/>
              <a:t>等主題，深受讀者喜愛。著有</a:t>
            </a:r>
            <a:r>
              <a:rPr lang="zh-TW" altLang="en-US" sz="1300" dirty="0" smtClean="0"/>
              <a:t>：</a:t>
            </a:r>
            <a:r>
              <a:rPr lang="zh-TW" altLang="en-US" sz="1300" dirty="0"/>
              <a:t> </a:t>
            </a:r>
            <a:r>
              <a:rPr lang="zh-TW" altLang="en-US" sz="1300" dirty="0" smtClean="0"/>
              <a:t>《</a:t>
            </a:r>
            <a:r>
              <a:rPr lang="en-US" altLang="zh-TW" sz="1300" dirty="0" smtClean="0"/>
              <a:t>60</a:t>
            </a:r>
            <a:r>
              <a:rPr lang="zh-TW" altLang="en-US" sz="1300" dirty="0" smtClean="0"/>
              <a:t>歲越活越聰明》、《幸</a:t>
            </a:r>
            <a:r>
              <a:rPr lang="zh-TW" altLang="en-US" sz="1300" dirty="0"/>
              <a:t>齡人生70開始</a:t>
            </a:r>
            <a:r>
              <a:rPr lang="zh-TW" altLang="en-US" sz="1300" dirty="0" smtClean="0"/>
              <a:t>》、</a:t>
            </a:r>
            <a:r>
              <a:rPr lang="zh-TW" altLang="en-US" sz="1300" dirty="0"/>
              <a:t>《如果活到80歲</a:t>
            </a:r>
            <a:r>
              <a:rPr lang="zh-TW" altLang="en-US" sz="1300" dirty="0" smtClean="0"/>
              <a:t>》等</a:t>
            </a:r>
            <a:r>
              <a:rPr lang="zh-TW" altLang="en-US" sz="1300" dirty="0"/>
              <a:t>。</a:t>
            </a:r>
          </a:p>
        </p:txBody>
      </p:sp>
      <p:sp>
        <p:nvSpPr>
          <p:cNvPr id="40" name="矩形 39"/>
          <p:cNvSpPr/>
          <p:nvPr/>
        </p:nvSpPr>
        <p:spPr>
          <a:xfrm>
            <a:off x="1288151" y="3180360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dirty="0"/>
              <a:t>和田秀樹醫師</a:t>
            </a:r>
          </a:p>
        </p:txBody>
      </p:sp>
      <p:sp>
        <p:nvSpPr>
          <p:cNvPr id="41" name="矩形 40"/>
          <p:cNvSpPr/>
          <p:nvPr/>
        </p:nvSpPr>
        <p:spPr>
          <a:xfrm>
            <a:off x="1211508" y="2911912"/>
            <a:ext cx="23042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rgbClr val="041B3B"/>
                </a:solidFill>
              </a:rPr>
              <a:t>成功</a:t>
            </a:r>
            <a:r>
              <a:rPr lang="zh-TW" altLang="en-US" b="1" dirty="0" smtClean="0">
                <a:solidFill>
                  <a:srgbClr val="041B3B"/>
                </a:solidFill>
              </a:rPr>
              <a:t>老化</a:t>
            </a:r>
            <a:r>
              <a:rPr lang="en-US" altLang="zh-TW" b="1" dirty="0" smtClean="0">
                <a:solidFill>
                  <a:srgbClr val="041B3B"/>
                </a:solidFill>
              </a:rPr>
              <a:t>-</a:t>
            </a:r>
            <a:r>
              <a:rPr lang="zh-TW" altLang="en-US" b="1" dirty="0" smtClean="0">
                <a:solidFill>
                  <a:srgbClr val="041B3B"/>
                </a:solidFill>
              </a:rPr>
              <a:t>幸</a:t>
            </a:r>
            <a:r>
              <a:rPr lang="zh-TW" altLang="en-US" b="1" dirty="0">
                <a:solidFill>
                  <a:srgbClr val="041B3B"/>
                </a:solidFill>
              </a:rPr>
              <a:t>齡人生方程式</a:t>
            </a:r>
          </a:p>
        </p:txBody>
      </p:sp>
    </p:spTree>
    <p:extLst>
      <p:ext uri="{BB962C8B-B14F-4D97-AF65-F5344CB8AC3E}">
        <p14:creationId xmlns:p14="http://schemas.microsoft.com/office/powerpoint/2010/main" val="24734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"/>
          </a:p>
        </p:txBody>
      </p:sp>
      <p:sp>
        <p:nvSpPr>
          <p:cNvPr id="3" name="文字方塊 2"/>
          <p:cNvSpPr txBox="1"/>
          <p:nvPr/>
        </p:nvSpPr>
        <p:spPr>
          <a:xfrm>
            <a:off x="899592" y="1227406"/>
            <a:ext cx="864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200" dirty="0" smtClean="0"/>
              <a:t>“</a:t>
            </a:r>
            <a:r>
              <a:rPr lang="en-US" altLang="zh-TW" dirty="0" smtClean="0">
                <a:solidFill>
                  <a:schemeClr val="bg1"/>
                </a:solidFill>
              </a:rPr>
              <a:t>”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6948264" y="2859782"/>
            <a:ext cx="8640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200" dirty="0" smtClean="0">
                <a:solidFill>
                  <a:schemeClr val="bg1"/>
                </a:solidFill>
              </a:rPr>
              <a:t>“</a:t>
            </a:r>
            <a:r>
              <a:rPr lang="en-US" altLang="zh-TW" sz="7200" dirty="0" smtClean="0"/>
              <a:t>”</a:t>
            </a:r>
            <a:endParaRPr lang="zh-TW" altLang="en-US" sz="7200" dirty="0"/>
          </a:p>
        </p:txBody>
      </p:sp>
      <p:sp>
        <p:nvSpPr>
          <p:cNvPr id="5" name="矩形 4"/>
          <p:cNvSpPr/>
          <p:nvPr/>
        </p:nvSpPr>
        <p:spPr>
          <a:xfrm>
            <a:off x="1403648" y="1657423"/>
            <a:ext cx="5904656" cy="15406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898702" y="2427392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 smtClean="0">
                <a:solidFill>
                  <a:schemeClr val="bg1"/>
                </a:solidFill>
              </a:rPr>
              <a:t>成功老化與科技長照</a:t>
            </a:r>
            <a:endParaRPr lang="en-US" altLang="zh-TW" sz="3600" b="1" dirty="0" smtClean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907704" y="488890"/>
            <a:ext cx="49685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 smtClean="0">
                <a:solidFill>
                  <a:schemeClr val="tx1"/>
                </a:solidFill>
              </a:rPr>
              <a:t>論壇下午場</a:t>
            </a:r>
            <a:endParaRPr lang="en-US" altLang="zh-TW" sz="4400" b="1" dirty="0" smtClean="0">
              <a:solidFill>
                <a:schemeClr val="tx1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889491" y="3736945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tx1"/>
                </a:solidFill>
              </a:rPr>
              <a:t>13:20-17:00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1889491" y="1781061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b="1" dirty="0" smtClean="0">
                <a:solidFill>
                  <a:schemeClr val="bg1"/>
                </a:solidFill>
              </a:rPr>
              <a:t>以人文為本</a:t>
            </a:r>
            <a:endParaRPr lang="en-US" altLang="zh-TW" sz="36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83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854225" y="237474"/>
            <a:ext cx="3502326" cy="204348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5364088" y="3050100"/>
            <a:ext cx="3384376" cy="1897913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274923" y="427460"/>
            <a:ext cx="3456384" cy="185349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798872" y="3041879"/>
            <a:ext cx="3502326" cy="1940321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"/>
          </a:p>
        </p:txBody>
      </p:sp>
      <p:sp>
        <p:nvSpPr>
          <p:cNvPr id="5" name="橢圓 4"/>
          <p:cNvSpPr/>
          <p:nvPr/>
        </p:nvSpPr>
        <p:spPr>
          <a:xfrm>
            <a:off x="4565030" y="122867"/>
            <a:ext cx="1152128" cy="1244374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4355976" y="2715766"/>
            <a:ext cx="1152128" cy="1368152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81354" y="2561984"/>
            <a:ext cx="1224136" cy="130591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1361844" y="3365668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dirty="0" smtClean="0"/>
              <a:t>莊淑婷副院長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794729" y="745054"/>
            <a:ext cx="13115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dirty="0"/>
              <a:t>川島隆太 教授</a:t>
            </a:r>
          </a:p>
        </p:txBody>
      </p:sp>
      <p:sp>
        <p:nvSpPr>
          <p:cNvPr id="18" name="矩形 17"/>
          <p:cNvSpPr/>
          <p:nvPr/>
        </p:nvSpPr>
        <p:spPr>
          <a:xfrm>
            <a:off x="5816706" y="3409130"/>
            <a:ext cx="13115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糠谷和弘 社長</a:t>
            </a:r>
          </a:p>
        </p:txBody>
      </p:sp>
      <p:sp>
        <p:nvSpPr>
          <p:cNvPr id="19" name="矩形 18"/>
          <p:cNvSpPr/>
          <p:nvPr/>
        </p:nvSpPr>
        <p:spPr>
          <a:xfrm>
            <a:off x="1285200" y="3097220"/>
            <a:ext cx="27445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b="1" dirty="0" smtClean="0">
                <a:solidFill>
                  <a:srgbClr val="041B3B"/>
                </a:solidFill>
              </a:rPr>
              <a:t>以人為本的智慧醫養與失智照護</a:t>
            </a:r>
            <a:endParaRPr lang="zh-TW" altLang="en-US" b="1" dirty="0">
              <a:solidFill>
                <a:srgbClr val="041B3B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626755" y="444859"/>
            <a:ext cx="24736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zh-TW" b="1" dirty="0"/>
              <a:t>失智症科技照</a:t>
            </a:r>
            <a:r>
              <a:rPr lang="zh-TW" altLang="zh-TW" b="1" dirty="0" smtClean="0"/>
              <a:t>護</a:t>
            </a:r>
            <a:r>
              <a:rPr lang="en-US" altLang="zh-TW" b="1" dirty="0" smtClean="0"/>
              <a:t> </a:t>
            </a:r>
            <a:endParaRPr lang="zh-TW" altLang="en-US" b="1" dirty="0">
              <a:solidFill>
                <a:srgbClr val="041B3B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361676" y="1128607"/>
            <a:ext cx="339667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研究</a:t>
            </a:r>
            <a:r>
              <a:rPr lang="zh-TW" altLang="en-US" dirty="0"/>
              <a:t>人腦活動機制「腦功能造影</a:t>
            </a:r>
            <a:r>
              <a:rPr lang="zh-TW" altLang="en-US" dirty="0" smtClean="0"/>
              <a:t>」先驅</a:t>
            </a:r>
            <a:r>
              <a:rPr lang="zh-TW" altLang="en-US" dirty="0"/>
              <a:t>，</a:t>
            </a:r>
            <a:r>
              <a:rPr lang="zh-TW" altLang="en-US" dirty="0" smtClean="0"/>
              <a:t>日本</a:t>
            </a:r>
            <a:r>
              <a:rPr lang="zh-TW" altLang="en-US" b="1" dirty="0" smtClean="0">
                <a:solidFill>
                  <a:srgbClr val="FF00FF"/>
                </a:solidFill>
              </a:rPr>
              <a:t>腦功能開發</a:t>
            </a:r>
            <a:r>
              <a:rPr lang="zh-TW" altLang="en-US" dirty="0" smtClean="0">
                <a:solidFill>
                  <a:schemeClr val="tx1"/>
                </a:solidFill>
              </a:rPr>
              <a:t>與</a:t>
            </a:r>
            <a:r>
              <a:rPr lang="zh-TW" altLang="en-US" b="1" dirty="0" smtClean="0">
                <a:solidFill>
                  <a:srgbClr val="FF00FF"/>
                </a:solidFill>
              </a:rPr>
              <a:t>失智研究權威</a:t>
            </a:r>
            <a:r>
              <a:rPr lang="zh-TW" altLang="en-US" dirty="0" smtClean="0"/>
              <a:t>翹楚。</a:t>
            </a:r>
            <a:endParaRPr lang="zh-TW" altLang="en-US" dirty="0"/>
          </a:p>
          <a:p>
            <a:r>
              <a:rPr lang="zh-TW" altLang="en-US" dirty="0" smtClean="0"/>
              <a:t>作品有日本任天堂遊戲</a:t>
            </a:r>
            <a:r>
              <a:rPr lang="zh-TW" altLang="en-US" dirty="0"/>
              <a:t>軟體</a:t>
            </a:r>
            <a:r>
              <a:rPr lang="en-US" altLang="zh-TW" dirty="0"/>
              <a:t>《DS</a:t>
            </a:r>
            <a:r>
              <a:rPr lang="zh-TW" altLang="en-US" dirty="0"/>
              <a:t>腦力挑戰</a:t>
            </a:r>
            <a:r>
              <a:rPr lang="en-US" altLang="zh-TW" dirty="0"/>
              <a:t>》</a:t>
            </a:r>
            <a:r>
              <a:rPr lang="zh-TW" altLang="en-US" dirty="0"/>
              <a:t>，應用學習療法的</a:t>
            </a:r>
            <a:r>
              <a:rPr lang="en-US" altLang="zh-TW" dirty="0"/>
              <a:t>《</a:t>
            </a:r>
            <a:r>
              <a:rPr lang="zh-TW" altLang="en-US" dirty="0"/>
              <a:t>川島隆太教授的腦部鍛鍊成人朗誦訓練教材</a:t>
            </a:r>
            <a:r>
              <a:rPr lang="en-US" altLang="zh-TW" dirty="0" smtClean="0"/>
              <a:t>》</a:t>
            </a:r>
            <a:r>
              <a:rPr lang="zh-TW" altLang="en-US" dirty="0" smtClean="0"/>
              <a:t>叢書等。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5380672" y="3597205"/>
            <a:ext cx="34563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TW" altLang="en-US" dirty="0"/>
          </a:p>
          <a:p>
            <a:r>
              <a:rPr lang="zh-TW" altLang="en-US" dirty="0"/>
              <a:t>具備逾</a:t>
            </a:r>
            <a:r>
              <a:rPr lang="en-US" altLang="zh-TW" dirty="0"/>
              <a:t>500</a:t>
            </a:r>
            <a:r>
              <a:rPr lang="zh-TW" altLang="en-US" dirty="0"/>
              <a:t>家機構諮詢實績，為</a:t>
            </a:r>
            <a:r>
              <a:rPr lang="zh-TW" altLang="en-US" b="1" dirty="0">
                <a:solidFill>
                  <a:srgbClr val="FF00FF"/>
                </a:solidFill>
              </a:rPr>
              <a:t>日本長照管理</a:t>
            </a:r>
            <a:r>
              <a:rPr lang="zh-TW" altLang="en-US" dirty="0"/>
              <a:t>權威。本次將分享如何運用</a:t>
            </a:r>
            <a:r>
              <a:rPr lang="zh-TW" altLang="en-US" b="1" dirty="0">
                <a:solidFill>
                  <a:srgbClr val="FF00FF"/>
                </a:solidFill>
              </a:rPr>
              <a:t>科技克服人力缺口</a:t>
            </a:r>
            <a:r>
              <a:rPr lang="zh-TW" altLang="en-US" dirty="0"/>
              <a:t>、優化機構營運，透過豐富的實戰經驗與數據，揭示日本長照產業提升生產力的數位轉型關鍵與最新應用趨勢。</a:t>
            </a:r>
            <a:endParaRPr lang="en-US" altLang="zh-TW" dirty="0"/>
          </a:p>
        </p:txBody>
      </p:sp>
      <p:sp>
        <p:nvSpPr>
          <p:cNvPr id="27" name="矩形 26"/>
          <p:cNvSpPr/>
          <p:nvPr/>
        </p:nvSpPr>
        <p:spPr>
          <a:xfrm>
            <a:off x="4888051" y="3108236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TW" altLang="zh-TW" b="1" dirty="0"/>
              <a:t>長照數位轉型新趨勢與智能化失智症照護</a:t>
            </a:r>
            <a:endParaRPr lang="zh-TW" altLang="en-US" b="1" dirty="0">
              <a:solidFill>
                <a:srgbClr val="041B3B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17923" y="3597205"/>
            <a:ext cx="308933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結合慈濟全</a:t>
            </a:r>
            <a:r>
              <a:rPr lang="zh-TW" altLang="en-US" dirty="0" smtClean="0"/>
              <a:t>台</a:t>
            </a:r>
            <a:r>
              <a:rPr lang="en-US" altLang="zh-TW" dirty="0" smtClean="0"/>
              <a:t>39</a:t>
            </a:r>
            <a:r>
              <a:rPr lang="zh-TW" altLang="en-US" dirty="0" smtClean="0"/>
              <a:t>家機構 </a:t>
            </a:r>
            <a:r>
              <a:rPr lang="en-US" altLang="zh-TW" dirty="0"/>
              <a:t>424 </a:t>
            </a:r>
            <a:r>
              <a:rPr lang="zh-TW" altLang="en-US" dirty="0"/>
              <a:t>處據點與「仁愛長照」標竿經驗，深耕醫養整合</a:t>
            </a:r>
            <a:r>
              <a:rPr lang="zh-TW" altLang="en-US" dirty="0" smtClean="0"/>
              <a:t>。將</a:t>
            </a:r>
            <a:r>
              <a:rPr lang="zh-TW" altLang="en-US" dirty="0"/>
              <a:t>分享榮獲國家品質標章之「</a:t>
            </a:r>
            <a:r>
              <a:rPr lang="en-US" altLang="zh-TW" dirty="0"/>
              <a:t>AI </a:t>
            </a:r>
            <a:r>
              <a:rPr lang="zh-TW" altLang="en-US" dirty="0"/>
              <a:t>失智虛擬人」與「</a:t>
            </a:r>
            <a:r>
              <a:rPr lang="en-US" altLang="zh-TW" dirty="0"/>
              <a:t>880 </a:t>
            </a:r>
            <a:r>
              <a:rPr lang="zh-TW" altLang="en-US" dirty="0"/>
              <a:t>健康管理系統」</a:t>
            </a:r>
            <a:r>
              <a:rPr lang="zh-TW" altLang="en-US" dirty="0" smtClean="0"/>
              <a:t>，</a:t>
            </a:r>
            <a:r>
              <a:rPr lang="zh-TW" altLang="en-US" dirty="0"/>
              <a:t>透過智慧科技與環保輔具</a:t>
            </a:r>
            <a:r>
              <a:rPr lang="zh-TW" altLang="en-US" dirty="0" smtClean="0"/>
              <a:t>平台，</a:t>
            </a:r>
            <a:r>
              <a:rPr lang="zh-TW" altLang="en-US" b="1" dirty="0" smtClean="0">
                <a:solidFill>
                  <a:srgbClr val="FF00FF"/>
                </a:solidFill>
              </a:rPr>
              <a:t>展示台灣在地科技賦能實踐。</a:t>
            </a:r>
            <a:endParaRPr lang="zh-TW" altLang="en-US" b="1" dirty="0">
              <a:solidFill>
                <a:srgbClr val="FF00FF"/>
              </a:solidFill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115273" y="71339"/>
            <a:ext cx="1102651" cy="1140901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1463469" y="745054"/>
            <a:ext cx="13115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mtClean="0"/>
              <a:t>許志成 執行長</a:t>
            </a:r>
            <a:endParaRPr lang="en-US" altLang="zh-TW" dirty="0"/>
          </a:p>
        </p:txBody>
      </p:sp>
      <p:sp>
        <p:nvSpPr>
          <p:cNvPr id="25" name="矩形 24"/>
          <p:cNvSpPr/>
          <p:nvPr/>
        </p:nvSpPr>
        <p:spPr>
          <a:xfrm>
            <a:off x="1295495" y="444859"/>
            <a:ext cx="29164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zh-TW" b="1" dirty="0"/>
              <a:t>台灣高齡政策展望與</a:t>
            </a:r>
            <a:r>
              <a:rPr lang="zh-TW" altLang="zh-TW" b="1" dirty="0" smtClean="0"/>
              <a:t>研究</a:t>
            </a:r>
            <a:r>
              <a:rPr lang="en-US" altLang="zh-TW" b="1" dirty="0" smtClean="0"/>
              <a:t>(</a:t>
            </a:r>
            <a:r>
              <a:rPr lang="zh-TW" altLang="en-US" b="1" dirty="0" smtClean="0"/>
              <a:t>確認中</a:t>
            </a:r>
            <a:r>
              <a:rPr lang="en-US" altLang="zh-TW" b="1" dirty="0" smtClean="0"/>
              <a:t>)</a:t>
            </a:r>
            <a:endParaRPr lang="zh-TW" altLang="en-US" b="1" dirty="0"/>
          </a:p>
        </p:txBody>
      </p:sp>
      <p:sp>
        <p:nvSpPr>
          <p:cNvPr id="3" name="矩形 2"/>
          <p:cNvSpPr/>
          <p:nvPr/>
        </p:nvSpPr>
        <p:spPr>
          <a:xfrm>
            <a:off x="995634" y="1088540"/>
            <a:ext cx="310880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國家衛生研究院高齡醫學暨健康福祉研究中心執行長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長期專精於流行病學研究與公共衛生政策評估，特別針對超高齡社會面臨的慢性病挑戰提出解方</a:t>
            </a:r>
          </a:p>
        </p:txBody>
      </p:sp>
    </p:spTree>
    <p:extLst>
      <p:ext uri="{BB962C8B-B14F-4D97-AF65-F5344CB8AC3E}">
        <p14:creationId xmlns:p14="http://schemas.microsoft.com/office/powerpoint/2010/main" val="28534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"/>
          </a:p>
        </p:txBody>
      </p:sp>
      <p:sp>
        <p:nvSpPr>
          <p:cNvPr id="3" name="圓角矩形 2"/>
          <p:cNvSpPr/>
          <p:nvPr/>
        </p:nvSpPr>
        <p:spPr>
          <a:xfrm>
            <a:off x="251520" y="915566"/>
            <a:ext cx="4248472" cy="38164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4788024" y="915566"/>
            <a:ext cx="4189715" cy="38164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251520" y="915566"/>
            <a:ext cx="64807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2947218" y="1153595"/>
            <a:ext cx="1418166" cy="1368152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7390309" y="1203598"/>
            <a:ext cx="1286147" cy="1368152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4788024" y="915566"/>
            <a:ext cx="64807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361159" y="915566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chemeClr val="bg1"/>
                </a:solidFill>
              </a:rPr>
              <a:t>1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913224" y="941988"/>
            <a:ext cx="6480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solidFill>
                  <a:schemeClr val="bg1"/>
                </a:solidFill>
              </a:rPr>
              <a:t>2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53596" y="3083062"/>
            <a:ext cx="397925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/>
              <a:t>綠之園健康事業股份有限公司董事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/>
              <a:t>嗶嗶嗶樂遊學股份有限公司 </a:t>
            </a:r>
            <a:r>
              <a:rPr lang="en-US" altLang="zh-TW" dirty="0"/>
              <a:t>CVO</a:t>
            </a:r>
            <a:endParaRPr lang="en-US" altLang="zh-TW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/>
              <a:t>太陽長照社團法人 監察人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 smtClean="0"/>
              <a:t>國衛院</a:t>
            </a:r>
            <a:r>
              <a:rPr lang="zh-TW" altLang="en-US" dirty="0"/>
              <a:t>論壇「高齡健康與長</a:t>
            </a:r>
            <a:r>
              <a:rPr lang="zh-TW" altLang="en-US" dirty="0" smtClean="0"/>
              <a:t>照」 </a:t>
            </a:r>
            <a:r>
              <a:rPr lang="zh-TW" altLang="en-US" dirty="0"/>
              <a:t>委員                 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/>
              <a:t>台日産業技術合作</a:t>
            </a:r>
            <a:r>
              <a:rPr lang="zh-TW" altLang="en-US" dirty="0" smtClean="0"/>
              <a:t>促進會</a:t>
            </a:r>
            <a:r>
              <a:rPr lang="zh-TW" altLang="en-US" dirty="0"/>
              <a:t>理事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 smtClean="0"/>
              <a:t>台灣高創會 理事長、名譽理</a:t>
            </a:r>
            <a:r>
              <a:rPr lang="zh-TW" altLang="en-US" dirty="0"/>
              <a:t>事</a:t>
            </a: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/>
              <a:t>中華經濟研究院日本中心 </a:t>
            </a:r>
            <a:r>
              <a:rPr lang="zh-TW" altLang="en-US" dirty="0" smtClean="0"/>
              <a:t>顧問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18660" y="1712767"/>
            <a:ext cx="26481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/>
              <a:t>台灣高齡產業創新發展協會 </a:t>
            </a:r>
            <a:endParaRPr lang="en-US" altLang="zh-TW" sz="1600" dirty="0"/>
          </a:p>
          <a:p>
            <a:pPr algn="ctr"/>
            <a:r>
              <a:rPr lang="zh-TW" altLang="en-US" sz="2000" dirty="0" smtClean="0"/>
              <a:t>林峻暉 創會會長</a:t>
            </a:r>
            <a:endParaRPr lang="en-US" altLang="zh-TW" sz="2000" dirty="0" smtClean="0"/>
          </a:p>
        </p:txBody>
      </p:sp>
      <p:sp>
        <p:nvSpPr>
          <p:cNvPr id="13" name="矩形 12"/>
          <p:cNvSpPr/>
          <p:nvPr/>
        </p:nvSpPr>
        <p:spPr>
          <a:xfrm>
            <a:off x="4762413" y="1779662"/>
            <a:ext cx="28803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2000" dirty="0" smtClean="0"/>
              <a:t>慈濟國際人醫論壇</a:t>
            </a:r>
            <a:endParaRPr lang="en-US" altLang="zh-TW" sz="2000" dirty="0" smtClean="0"/>
          </a:p>
          <a:p>
            <a:pPr algn="ctr"/>
            <a:r>
              <a:rPr lang="zh-TW" altLang="en-US" sz="2000" dirty="0" smtClean="0"/>
              <a:t>洪芯宜 主持人</a:t>
            </a:r>
            <a:endParaRPr lang="en-US" altLang="zh-TW" sz="2000" dirty="0" smtClean="0"/>
          </a:p>
        </p:txBody>
      </p:sp>
      <p:sp>
        <p:nvSpPr>
          <p:cNvPr id="14" name="矩形 13"/>
          <p:cNvSpPr/>
          <p:nvPr/>
        </p:nvSpPr>
        <p:spPr>
          <a:xfrm>
            <a:off x="5148064" y="2467133"/>
            <a:ext cx="411770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美國碩士</a:t>
            </a:r>
            <a:r>
              <a:rPr lang="zh-TW" altLang="en-US" dirty="0" smtClean="0"/>
              <a:t>畢業</a:t>
            </a:r>
            <a:r>
              <a:rPr lang="en-US" altLang="zh-TW" dirty="0" smtClean="0"/>
              <a:t>/</a:t>
            </a:r>
            <a:r>
              <a:rPr lang="zh-TW" altLang="en-US" dirty="0" smtClean="0"/>
              <a:t>東海大學</a:t>
            </a:r>
            <a:r>
              <a:rPr lang="zh-TW" altLang="en-US" dirty="0"/>
              <a:t>講師</a:t>
            </a:r>
          </a:p>
          <a:p>
            <a:r>
              <a:rPr lang="zh-TW" altLang="en-US" dirty="0"/>
              <a:t>群益證券綜合証券公司總公司企畫</a:t>
            </a:r>
            <a:r>
              <a:rPr lang="zh-TW" altLang="en-US" dirty="0" smtClean="0"/>
              <a:t>專員</a:t>
            </a:r>
            <a:r>
              <a:rPr lang="en-US" altLang="zh-TW" dirty="0" smtClean="0"/>
              <a:t>.</a:t>
            </a:r>
            <a:r>
              <a:rPr lang="zh-TW" altLang="en-US" dirty="0" smtClean="0"/>
              <a:t>承銷人員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1.</a:t>
            </a:r>
            <a:r>
              <a:rPr lang="zh-TW" altLang="en-US" dirty="0" smtClean="0"/>
              <a:t>台中市政府合作司儀及導覽</a:t>
            </a:r>
            <a:r>
              <a:rPr lang="en-US" altLang="zh-TW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 smtClean="0"/>
              <a:t>台中市府</a:t>
            </a:r>
            <a:r>
              <a:rPr lang="zh-TW" altLang="en-US" dirty="0"/>
              <a:t>合作接待義大利</a:t>
            </a:r>
            <a:r>
              <a:rPr lang="en-US" altLang="zh-TW" dirty="0"/>
              <a:t>Prato</a:t>
            </a:r>
            <a:r>
              <a:rPr lang="zh-TW" altLang="en-US" dirty="0"/>
              <a:t>市長一</a:t>
            </a:r>
            <a:r>
              <a:rPr lang="zh-TW" altLang="en-US" dirty="0" smtClean="0"/>
              <a:t>行人</a:t>
            </a:r>
            <a:endParaRPr lang="en-US" altLang="zh-TW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/>
              <a:t>波蘭奧坡雷市長訪台</a:t>
            </a:r>
            <a:r>
              <a:rPr lang="zh-TW" altLang="en-US" dirty="0" smtClean="0"/>
              <a:t>中</a:t>
            </a:r>
            <a:endParaRPr lang="en-US" altLang="zh-TW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 smtClean="0"/>
              <a:t>環保</a:t>
            </a:r>
            <a:r>
              <a:rPr lang="zh-TW" altLang="en-US" dirty="0"/>
              <a:t>防災勇士</a:t>
            </a:r>
            <a:r>
              <a:rPr lang="en-US" altLang="zh-TW" dirty="0"/>
              <a:t>PK</a:t>
            </a:r>
            <a:r>
              <a:rPr lang="zh-TW" altLang="en-US" dirty="0"/>
              <a:t>賽連續四屆司儀</a:t>
            </a:r>
            <a:endParaRPr lang="en-US" altLang="zh-TW" dirty="0" smtClean="0"/>
          </a:p>
          <a:p>
            <a:r>
              <a:rPr lang="en-US" altLang="zh-TW" dirty="0" smtClean="0"/>
              <a:t>2.</a:t>
            </a:r>
            <a:r>
              <a:rPr lang="zh-TW" altLang="en-US" dirty="0" smtClean="0"/>
              <a:t>美</a:t>
            </a:r>
            <a:r>
              <a:rPr lang="zh-TW" altLang="en-US" dirty="0"/>
              <a:t>西、美東聯合國防災團體訪台北簽約</a:t>
            </a:r>
            <a:endParaRPr lang="en-US" altLang="zh-TW" dirty="0" smtClean="0"/>
          </a:p>
          <a:p>
            <a:r>
              <a:rPr lang="en-US" altLang="zh-TW" dirty="0" smtClean="0"/>
              <a:t>3.</a:t>
            </a:r>
            <a:r>
              <a:rPr lang="zh-TW" altLang="en-US" dirty="0" smtClean="0"/>
              <a:t>國際人醫會論壇主持</a:t>
            </a:r>
            <a:endParaRPr lang="en-US" altLang="zh-TW" dirty="0" smtClean="0"/>
          </a:p>
          <a:p>
            <a:r>
              <a:rPr lang="en-US" altLang="zh-TW" dirty="0"/>
              <a:t>4</a:t>
            </a:r>
            <a:r>
              <a:rPr lang="en-US" altLang="zh-TW" dirty="0" smtClean="0"/>
              <a:t>.</a:t>
            </a:r>
            <a:r>
              <a:rPr lang="zh-TW" altLang="en-US" dirty="0" smtClean="0"/>
              <a:t>齊</a:t>
            </a:r>
            <a:r>
              <a:rPr lang="zh-TW" altLang="en-US" dirty="0"/>
              <a:t>柏林飛越台灣攝影獎</a:t>
            </a:r>
            <a:r>
              <a:rPr lang="zh-TW" altLang="en-US" dirty="0" smtClean="0"/>
              <a:t>司儀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956407" y="1131009"/>
            <a:ext cx="18038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b="1" dirty="0" smtClean="0">
                <a:solidFill>
                  <a:schemeClr val="tx1">
                    <a:lumMod val="90000"/>
                    <a:lumOff val="10000"/>
                  </a:schemeClr>
                </a:solidFill>
              </a:rPr>
              <a:t>論壇主持人</a:t>
            </a:r>
            <a:endParaRPr lang="zh-TW" altLang="en-US" sz="2000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3" name="TextBox 5"/>
          <p:cNvSpPr txBox="1"/>
          <p:nvPr/>
        </p:nvSpPr>
        <p:spPr>
          <a:xfrm>
            <a:off x="1441712" y="131985"/>
            <a:ext cx="5847343" cy="492443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anchor="t">
            <a:spAutoFit/>
          </a:bodyPr>
          <a:lstStyle/>
          <a:p>
            <a:pPr lvl="0" algn="ctr">
              <a:spcBef>
                <a:spcPct val="0"/>
              </a:spcBef>
            </a:pPr>
            <a:r>
              <a:rPr lang="zh-TW" altLang="en-US" sz="3200" b="1" dirty="0" smtClean="0">
                <a:solidFill>
                  <a:srgbClr val="1763D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論壇主持</a:t>
            </a:r>
            <a:r>
              <a:rPr lang="zh-TW" altLang="en-US" sz="3200" b="1" dirty="0">
                <a:solidFill>
                  <a:srgbClr val="1763D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司儀</a:t>
            </a:r>
            <a:r>
              <a:rPr lang="zh-TW" altLang="en-US" sz="3200" b="1" dirty="0" smtClean="0">
                <a:solidFill>
                  <a:srgbClr val="1763D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強強聯手組合</a:t>
            </a:r>
            <a:endParaRPr lang="en-US" sz="3200" b="1" dirty="0">
              <a:solidFill>
                <a:srgbClr val="1763D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513741" y="640585"/>
            <a:ext cx="2426692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1800" b="1" dirty="0" smtClean="0">
                <a:solidFill>
                  <a:schemeClr val="bg1"/>
                </a:solidFill>
              </a:rPr>
              <a:t>資深人文，國際視野</a:t>
            </a:r>
            <a:endParaRPr lang="zh-TW" altLang="en-US" sz="1800" b="1" dirty="0">
              <a:solidFill>
                <a:schemeClr val="bg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76355" y="641585"/>
            <a:ext cx="2425611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1800" b="1" dirty="0" smtClean="0">
                <a:solidFill>
                  <a:schemeClr val="bg1"/>
                </a:solidFill>
              </a:rPr>
              <a:t>專業實務，跨域領導</a:t>
            </a:r>
            <a:endParaRPr lang="zh-TW" altLang="en-US" sz="1800" b="1" dirty="0">
              <a:solidFill>
                <a:schemeClr val="bg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535085" y="1088441"/>
            <a:ext cx="18038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b="1" dirty="0" smtClean="0">
                <a:solidFill>
                  <a:schemeClr val="tx1">
                    <a:lumMod val="90000"/>
                    <a:lumOff val="10000"/>
                  </a:schemeClr>
                </a:solidFill>
              </a:rPr>
              <a:t>論壇主持人</a:t>
            </a:r>
            <a:endParaRPr lang="zh-TW" altLang="en-US" sz="2000" b="1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91171" y="2295909"/>
            <a:ext cx="33306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東海大學企業管理學系</a:t>
            </a:r>
            <a:r>
              <a:rPr lang="zh-TW" altLang="en-US" dirty="0" smtClean="0"/>
              <a:t>學士</a:t>
            </a:r>
            <a:endParaRPr lang="en-US" altLang="zh-TW" dirty="0" smtClean="0"/>
          </a:p>
          <a:p>
            <a:r>
              <a:rPr lang="zh-TW" altLang="en-US" dirty="0" smtClean="0"/>
              <a:t>台灣大學</a:t>
            </a:r>
            <a:r>
              <a:rPr lang="zh-TW" altLang="en-US" dirty="0"/>
              <a:t>國際企業學研究所</a:t>
            </a:r>
            <a:r>
              <a:rPr lang="zh-TW" altLang="en-US" dirty="0" smtClean="0"/>
              <a:t>碩士</a:t>
            </a:r>
            <a:endParaRPr lang="en-US" altLang="zh-TW" dirty="0" smtClean="0"/>
          </a:p>
          <a:p>
            <a:r>
              <a:rPr lang="zh-TW" altLang="en-US" dirty="0" smtClean="0"/>
              <a:t>台灣</a:t>
            </a:r>
            <a:r>
              <a:rPr lang="zh-TW" altLang="en-US" dirty="0"/>
              <a:t>科技大學管理研究所博士班</a:t>
            </a:r>
          </a:p>
        </p:txBody>
      </p:sp>
    </p:spTree>
    <p:extLst>
      <p:ext uri="{BB962C8B-B14F-4D97-AF65-F5344CB8AC3E}">
        <p14:creationId xmlns:p14="http://schemas.microsoft.com/office/powerpoint/2010/main" val="171924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Joan template">
  <a:themeElements>
    <a:clrScheme name="Custom 347">
      <a:dk1>
        <a:srgbClr val="000C18"/>
      </a:dk1>
      <a:lt1>
        <a:srgbClr val="FFFFFF"/>
      </a:lt1>
      <a:dk2>
        <a:srgbClr val="85939C"/>
      </a:dk2>
      <a:lt2>
        <a:srgbClr val="E3F2F8"/>
      </a:lt2>
      <a:accent1>
        <a:srgbClr val="25A6E0"/>
      </a:accent1>
      <a:accent2>
        <a:srgbClr val="104499"/>
      </a:accent2>
      <a:accent3>
        <a:srgbClr val="94E277"/>
      </a:accent3>
      <a:accent4>
        <a:srgbClr val="4FB974"/>
      </a:accent4>
      <a:accent5>
        <a:srgbClr val="E9AB2D"/>
      </a:accent5>
      <a:accent6>
        <a:srgbClr val="D67309"/>
      </a:accent6>
      <a:hlink>
        <a:srgbClr val="104499"/>
      </a:hlink>
      <a:folHlink>
        <a:srgbClr val="6611CC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9967</TotalTime>
  <Words>869</Words>
  <Application>Microsoft Office PowerPoint</Application>
  <PresentationFormat>如螢幕大小 (16:9)</PresentationFormat>
  <Paragraphs>103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6</vt:i4>
      </vt:variant>
    </vt:vector>
  </HeadingPairs>
  <TitlesOfParts>
    <vt:vector size="20" baseType="lpstr">
      <vt:lpstr>Wingdings</vt:lpstr>
      <vt:lpstr>Calibri</vt:lpstr>
      <vt:lpstr>微軟正黑體</vt:lpstr>
      <vt:lpstr>新細明體</vt:lpstr>
      <vt:lpstr>Arial</vt:lpstr>
      <vt:lpstr>Trebuchet MS</vt:lpstr>
      <vt:lpstr>Calibri Light</vt:lpstr>
      <vt:lpstr>Inter-Regular</vt:lpstr>
      <vt:lpstr>Joan template</vt:lpstr>
      <vt:lpstr>自訂設計</vt:lpstr>
      <vt:lpstr>1_自訂設計</vt:lpstr>
      <vt:lpstr>2_自訂設計</vt:lpstr>
      <vt:lpstr>3_自訂設計</vt:lpstr>
      <vt:lpstr>4_自訂設計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TC</dc:creator>
  <cp:lastModifiedBy>台中</cp:lastModifiedBy>
  <cp:revision>880</cp:revision>
  <cp:lastPrinted>2026-05-04T06:08:21Z</cp:lastPrinted>
  <dcterms:modified xsi:type="dcterms:W3CDTF">2026-05-18T02:59:20Z</dcterms:modified>
</cp:coreProperties>
</file>